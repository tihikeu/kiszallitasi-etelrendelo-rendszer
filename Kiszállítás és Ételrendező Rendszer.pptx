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296075"/>
    <a:srgbClr val="57C785"/>
    <a:srgbClr val="273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707367066296222E-2"/>
          <c:y val="5.5361230627176142E-2"/>
          <c:w val="0.88096436890377605"/>
          <c:h val="0.7841810856934003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Tihamér</c:v>
                </c:pt>
              </c:strCache>
            </c:strRef>
          </c:tx>
          <c:spPr>
            <a:ln w="28575" cap="rnd">
              <a:solidFill>
                <a:srgbClr val="296075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1. Hét</c:v>
                </c:pt>
                <c:pt idx="1">
                  <c:v>2. Hét</c:v>
                </c:pt>
                <c:pt idx="2">
                  <c:v>3. Hét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2.2000000000000002</c:v>
                </c:pt>
                <c:pt idx="1">
                  <c:v>1.1000000000000001</c:v>
                </c:pt>
                <c:pt idx="2">
                  <c:v>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DA-4E6B-AE1A-DEAF980F2E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Levente</c:v>
                </c:pt>
              </c:strCache>
            </c:strRef>
          </c:tx>
          <c:spPr>
            <a:ln w="28575" cap="rnd">
              <a:solidFill>
                <a:srgbClr val="57C785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1. Hét</c:v>
                </c:pt>
                <c:pt idx="1">
                  <c:v>2. Hét</c:v>
                </c:pt>
                <c:pt idx="2">
                  <c:v>3. Hét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</c:v>
                </c:pt>
                <c:pt idx="1">
                  <c:v>2.4</c:v>
                </c:pt>
                <c:pt idx="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DA-4E6B-AE1A-DEAF980F2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3931199"/>
        <c:axId val="646720816"/>
      </c:lineChart>
      <c:catAx>
        <c:axId val="883931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646720816"/>
        <c:crosses val="autoZero"/>
        <c:auto val="1"/>
        <c:lblAlgn val="ctr"/>
        <c:lblOffset val="100"/>
        <c:noMultiLvlLbl val="0"/>
      </c:catAx>
      <c:valAx>
        <c:axId val="64672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883931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75000"/>
        <a:alpha val="80000"/>
      </a:schemeClr>
    </a:solidFill>
    <a:ln>
      <a:solidFill>
        <a:schemeClr val="bg1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022DD4-2A6D-42E0-AABB-5B8F006F0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30400E1-CBE9-4E39-828A-F588DCFA7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5DB078-E5E2-40DA-92D9-018BDC8E0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388F4A-FEF0-4BC3-9589-5C8E02AA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E1DFA3-F91B-4D65-A533-2472776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793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2995FB-00E4-4F26-99B2-D3893D10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FC494B-15A2-4468-9082-FB341F8C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74B244-0070-41C4-9663-BDB800AE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C0DF002-CE2F-4296-B3D4-761C8F20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78481A9-BC92-4E76-BC62-330D6AE8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365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2839C-949E-4CE2-9D14-C93519F2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9C930AF-BAD8-47A0-B74A-4090BCB6C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B86E44-5C1E-4EBE-B810-1FA74D42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E6D2F9-5B14-483F-B1E5-D1A116BF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E136F3-7846-4F09-95B3-391241EC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743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58959D-7593-4628-AC08-A4B3E111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4A2244-F549-4F82-9542-F1A176E5C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5E8F868-90CD-416C-86A5-3D4FEDA43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A4AA279-8376-4F8D-801F-74FB6A60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F6DBD34-031F-4C24-95D9-959847FA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B0B89BB-40BF-4771-B740-A6C976A5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711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B64C3B-993F-4CDB-91B7-E4A24F27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963283-424A-49FE-8EEA-D0ACC1B38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790E39B-51B5-4F6E-9EE2-DB675D471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D7746B2-D4F0-407C-BBDF-952A36C25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5839A77-B31D-4D28-924D-BB544930D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5DBF9E7-DF9D-4C5F-AA73-72A8083B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40C0F162-94AB-492C-B291-46D7D011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4D7BF15-FD9A-4B86-8AD2-A2481C6A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752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89AB43-5526-471E-863E-ABD4F089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A4BD1F5-E35D-472A-9E47-79733F16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331AEA4-59F4-42B0-8D11-1CA908FD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A9B33F3-CF59-4662-87F4-E2A7CFE4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627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679A49F-5F00-427C-8C4F-E1D9125C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4EA7782-24A7-4496-BD0B-F5B443B6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F3840C1-253B-42D5-94FC-57230D3A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378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2AA213-7D15-44C0-A87B-F96CBF51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9A8A28-DEF0-425C-8BA9-9C58315C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D6F90FE-A1E7-4255-A6BD-CD3C6DBB5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5085544-1C3D-4C02-A7DA-D4D56F98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3D804B-878E-47F5-A4F1-C9991757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07FC549-8E8D-4C2F-B66F-48180C1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380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42EC75-5215-48DF-AAF6-E6EF3153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40F6FBF-2DF4-427A-8833-0A9123EB9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654BFF3-C3E0-4F43-820F-41358F32D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FABA67-8B04-4427-B820-36621165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DE5B86D-E464-4F32-A249-16262A34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AEA23C7-7608-4854-8512-87313FFB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317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405FDA-2A45-431F-9AC7-4EF2EE75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D789EAD-FAB3-4842-B08F-8F0BE658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9FBEED-2700-4C7D-B096-D45636B6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1BF877-B1D6-4EC9-A1B9-FC9D7C99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A128D7-5117-48A8-9BD4-FA07DF03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84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E265D12-15FD-40EE-9593-CF1F77D13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56F1E29-E8A1-4198-9ED9-B19D87CD8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90F7C0-5A5C-40A7-AB48-1FF69EC3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2F4D7A-FBFC-49A7-AC11-099F3D27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476C22B-E284-4361-864F-5FA4C27E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98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A5A4A35-8388-4682-AB45-476BAE5FA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56A638B-1976-4492-89A5-C63FFD1A7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FDBE09F-656A-49CF-9F7A-FE0483BE0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A063-3AA9-4E46-8E09-26CB67C754C8}" type="datetimeFigureOut">
              <a:rPr lang="hu-HU" smtClean="0"/>
              <a:t>2026. 10. 12.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39595D6-ADCF-4CB7-8F5B-D1479F5D9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45AC91F-D692-4A7F-8C76-25F9B38B8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17231-57AA-47D1-AE9A-DBA1E84A029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588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6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8055AE-15D0-4C0F-A351-BE37B8BA9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hu-HU" b="1" i="0" dirty="0">
                <a:solidFill>
                  <a:srgbClr val="57C785"/>
                </a:solidFill>
                <a:effectLst/>
                <a:latin typeface="Lucida Fax" panose="02060602050505020204" pitchFamily="18" charset="0"/>
              </a:rPr>
              <a:t>Kiszállítás és </a:t>
            </a:r>
            <a:r>
              <a:rPr lang="hu-HU" b="1" dirty="0">
                <a:solidFill>
                  <a:srgbClr val="57C785"/>
                </a:solidFill>
                <a:latin typeface="Lucida Fax" panose="02060602050505020204" pitchFamily="18" charset="0"/>
              </a:rPr>
              <a:t>É</a:t>
            </a:r>
            <a:r>
              <a:rPr lang="hu-HU" b="1" i="0" dirty="0">
                <a:solidFill>
                  <a:srgbClr val="57C785"/>
                </a:solidFill>
                <a:effectLst/>
                <a:latin typeface="Lucida Fax" panose="02060602050505020204" pitchFamily="18" charset="0"/>
              </a:rPr>
              <a:t>telrendező Rendszer</a:t>
            </a:r>
            <a:endParaRPr lang="hu-HU" dirty="0">
              <a:solidFill>
                <a:srgbClr val="57C785"/>
              </a:solidFill>
              <a:latin typeface="Lucida Fax" panose="020606020505050202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CCC5447-3627-4BD1-97DA-445C3D717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rgbClr val="296075"/>
                </a:solidFill>
              </a:rPr>
              <a:t>Készítette: Tóth Tihamér &amp; Szilágyi Levente</a:t>
            </a:r>
          </a:p>
        </p:txBody>
      </p:sp>
    </p:spTree>
    <p:extLst>
      <p:ext uri="{BB962C8B-B14F-4D97-AF65-F5344CB8AC3E}">
        <p14:creationId xmlns:p14="http://schemas.microsoft.com/office/powerpoint/2010/main" val="367100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eladat_megoszt">
            <a:extLst>
              <a:ext uri="{FF2B5EF4-FFF2-40B4-BE49-F238E27FC236}">
                <a16:creationId xmlns:a16="http://schemas.microsoft.com/office/drawing/2014/main" id="{9A307570-4965-47D6-ACCD-734F1E02C0C3}"/>
              </a:ext>
            </a:extLst>
          </p:cNvPr>
          <p:cNvSpPr/>
          <p:nvPr/>
        </p:nvSpPr>
        <p:spPr>
          <a:xfrm>
            <a:off x="347132" y="5070474"/>
            <a:ext cx="2650067" cy="1464733"/>
          </a:xfrm>
          <a:prstGeom prst="roundRect">
            <a:avLst/>
          </a:prstGeom>
          <a:gradFill>
            <a:gsLst>
              <a:gs pos="90000">
                <a:srgbClr val="296075"/>
              </a:gs>
              <a:gs pos="8000">
                <a:srgbClr val="296075"/>
              </a:gs>
              <a:gs pos="41000">
                <a:srgbClr val="57C785"/>
              </a:gs>
              <a:gs pos="62000">
                <a:srgbClr val="57C785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Feladat Megosztás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4085979F-35D4-4F83-8586-7CE57B708F30}"/>
              </a:ext>
            </a:extLst>
          </p:cNvPr>
          <p:cNvSpPr/>
          <p:nvPr/>
        </p:nvSpPr>
        <p:spPr>
          <a:xfrm>
            <a:off x="3301999" y="5070475"/>
            <a:ext cx="2650067" cy="1464733"/>
          </a:xfrm>
          <a:prstGeom prst="roundRect">
            <a:avLst/>
          </a:prstGeom>
          <a:gradFill>
            <a:gsLst>
              <a:gs pos="4000">
                <a:srgbClr val="FF0000"/>
              </a:gs>
              <a:gs pos="57000">
                <a:schemeClr val="accent4"/>
              </a:gs>
              <a:gs pos="80396">
                <a:schemeClr val="accent4">
                  <a:lumMod val="40000"/>
                  <a:lumOff val="60000"/>
                </a:schemeClr>
              </a:gs>
              <a:gs pos="27000">
                <a:schemeClr val="accent4">
                  <a:lumMod val="40000"/>
                  <a:lumOff val="60000"/>
                </a:schemeClr>
              </a:gs>
              <a:gs pos="100000">
                <a:srgbClr val="FF0000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Időbeosztás</a:t>
            </a: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6ADD803-6926-4BC6-A9E3-5DC8C1619246}"/>
              </a:ext>
            </a:extLst>
          </p:cNvPr>
          <p:cNvSpPr/>
          <p:nvPr/>
        </p:nvSpPr>
        <p:spPr>
          <a:xfrm>
            <a:off x="6256866" y="5074708"/>
            <a:ext cx="2650067" cy="1464733"/>
          </a:xfrm>
          <a:prstGeom prst="roundRect">
            <a:avLst/>
          </a:prstGeom>
          <a:gradFill>
            <a:gsLst>
              <a:gs pos="4000">
                <a:srgbClr val="7030A0"/>
              </a:gs>
              <a:gs pos="93578">
                <a:srgbClr val="7030A0"/>
              </a:gs>
              <a:gs pos="64000">
                <a:srgbClr val="FFCC66"/>
              </a:gs>
              <a:gs pos="55000">
                <a:srgbClr val="FFFF00"/>
              </a:gs>
              <a:gs pos="44000">
                <a:srgbClr val="FFCC66"/>
              </a:gs>
            </a:gsLst>
            <a:lin ang="78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Tapasztalatok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283582A8-0C95-4B26-8734-2CFD4B9347F5}"/>
              </a:ext>
            </a:extLst>
          </p:cNvPr>
          <p:cNvSpPr/>
          <p:nvPr/>
        </p:nvSpPr>
        <p:spPr>
          <a:xfrm>
            <a:off x="9211733" y="5070474"/>
            <a:ext cx="2650067" cy="1464733"/>
          </a:xfrm>
          <a:prstGeom prst="roundRect">
            <a:avLst/>
          </a:prstGeom>
          <a:gradFill flip="none" rotWithShape="1">
            <a:gsLst>
              <a:gs pos="38528">
                <a:schemeClr val="bg2">
                  <a:lumMod val="50000"/>
                </a:schemeClr>
              </a:gs>
              <a:gs pos="63000">
                <a:schemeClr val="bg2">
                  <a:lumMod val="50000"/>
                </a:schemeClr>
              </a:gs>
              <a:gs pos="76000">
                <a:schemeClr val="bg2">
                  <a:lumMod val="75000"/>
                </a:schemeClr>
              </a:gs>
              <a:gs pos="25000">
                <a:schemeClr val="bg2">
                  <a:lumMod val="75000"/>
                </a:schemeClr>
              </a:gs>
              <a:gs pos="4000">
                <a:schemeClr val="bg1"/>
              </a:gs>
              <a:gs pos="100000">
                <a:schemeClr val="bg1"/>
              </a:gs>
            </a:gsLst>
            <a:lin ang="7800000" scaled="0"/>
            <a:tileRect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Források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A60A9A3-2D48-4E72-AEB1-1000B502F77D}"/>
              </a:ext>
            </a:extLst>
          </p:cNvPr>
          <p:cNvSpPr txBox="1"/>
          <p:nvPr/>
        </p:nvSpPr>
        <p:spPr>
          <a:xfrm>
            <a:off x="1865841" y="600075"/>
            <a:ext cx="8782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u="sng" dirty="0">
                <a:solidFill>
                  <a:srgbClr val="57C785"/>
                </a:solidFill>
                <a:latin typeface="Lucida Fax" panose="02060602050505020204" pitchFamily="18" charset="0"/>
              </a:rPr>
              <a:t>Tartalom:</a:t>
            </a:r>
          </a:p>
        </p:txBody>
      </p:sp>
    </p:spTree>
    <p:extLst>
      <p:ext uri="{BB962C8B-B14F-4D97-AF65-F5344CB8AC3E}">
        <p14:creationId xmlns:p14="http://schemas.microsoft.com/office/powerpoint/2010/main" val="67925555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feladat_megoszt">
            <a:extLst>
              <a:ext uri="{FF2B5EF4-FFF2-40B4-BE49-F238E27FC236}">
                <a16:creationId xmlns:a16="http://schemas.microsoft.com/office/drawing/2014/main" id="{53A7DC45-763E-0A24-720B-4BA52A5472CE}"/>
              </a:ext>
            </a:extLst>
          </p:cNvPr>
          <p:cNvSpPr/>
          <p:nvPr/>
        </p:nvSpPr>
        <p:spPr>
          <a:xfrm>
            <a:off x="347132" y="341346"/>
            <a:ext cx="11206239" cy="6193862"/>
          </a:xfrm>
          <a:prstGeom prst="roundRect">
            <a:avLst/>
          </a:prstGeom>
          <a:gradFill>
            <a:gsLst>
              <a:gs pos="90000">
                <a:srgbClr val="296075"/>
              </a:gs>
              <a:gs pos="8000">
                <a:srgbClr val="296075"/>
              </a:gs>
              <a:gs pos="41000">
                <a:srgbClr val="57C785"/>
              </a:gs>
              <a:gs pos="62000">
                <a:srgbClr val="57C785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Lucida Fax" panose="020606020505050202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93B7DE3-28CF-440C-88FD-16BC7E45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9" y="951316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Feladat Megosztás: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DC08E2-70B9-4CE6-9F78-B6C0A0E32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13000" y="2886848"/>
            <a:ext cx="3683000" cy="3304367"/>
          </a:xfrm>
        </p:spPr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Tihamér:</a:t>
            </a:r>
          </a:p>
          <a:p>
            <a:pPr>
              <a:buClr>
                <a:schemeClr val="bg1"/>
              </a:buCl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Html</a:t>
            </a:r>
          </a:p>
          <a:p>
            <a:pPr>
              <a:buClr>
                <a:schemeClr val="bg1"/>
              </a:buCl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Github</a:t>
            </a:r>
          </a:p>
          <a:p>
            <a:pPr marL="0" indent="0">
              <a:buClr>
                <a:schemeClr val="bg1"/>
              </a:buClr>
              <a:buNone/>
            </a:pPr>
            <a:endParaRPr lang="hu-HU" dirty="0">
              <a:solidFill>
                <a:schemeClr val="bg1"/>
              </a:solidFill>
              <a:latin typeface="Lucida Fax" panose="02060602050505020204" pitchFamily="18" charset="0"/>
            </a:endParaRP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509200A-0998-4DFF-91FD-2FE0399BA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4664" y="2886848"/>
            <a:ext cx="3683000" cy="3304368"/>
          </a:xfrm>
        </p:spPr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Levente:</a:t>
            </a:r>
          </a:p>
          <a:p>
            <a:pPr>
              <a:buClr>
                <a:schemeClr val="bg1"/>
              </a:buCl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Java</a:t>
            </a:r>
          </a:p>
          <a:p>
            <a:pPr>
              <a:buClr>
                <a:schemeClr val="bg1"/>
              </a:buCl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PPT</a:t>
            </a:r>
          </a:p>
          <a:p>
            <a:pPr marL="0" indent="0">
              <a:buClr>
                <a:schemeClr val="bg1"/>
              </a:buClr>
              <a:buNone/>
            </a:pPr>
            <a:endParaRPr lang="hu-HU" dirty="0">
              <a:solidFill>
                <a:schemeClr val="bg1"/>
              </a:solidFill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05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DB067-18EE-50E7-7301-B571B29B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90D7666-B849-9252-304B-907AA118D398}"/>
              </a:ext>
            </a:extLst>
          </p:cNvPr>
          <p:cNvGrpSpPr/>
          <p:nvPr/>
        </p:nvGrpSpPr>
        <p:grpSpPr>
          <a:xfrm>
            <a:off x="6239934" y="5066240"/>
            <a:ext cx="5604934" cy="1468967"/>
            <a:chOff x="6409266" y="5222874"/>
            <a:chExt cx="5604934" cy="1468967"/>
          </a:xfrm>
        </p:grpSpPr>
        <p:sp>
          <p:nvSpPr>
            <p:cNvPr id="15" name="Téglalap: lekerekített 3">
              <a:extLst>
                <a:ext uri="{FF2B5EF4-FFF2-40B4-BE49-F238E27FC236}">
                  <a16:creationId xmlns:a16="http://schemas.microsoft.com/office/drawing/2014/main" id="{95146B13-B495-1AA7-7F98-DBCB171A1240}"/>
                </a:ext>
              </a:extLst>
            </p:cNvPr>
            <p:cNvSpPr/>
            <p:nvPr/>
          </p:nvSpPr>
          <p:spPr>
            <a:xfrm>
              <a:off x="6409266" y="5227108"/>
              <a:ext cx="2650067" cy="1464733"/>
            </a:xfrm>
            <a:prstGeom prst="roundRect">
              <a:avLst/>
            </a:prstGeom>
            <a:gradFill>
              <a:gsLst>
                <a:gs pos="4000">
                  <a:srgbClr val="7030A0"/>
                </a:gs>
                <a:gs pos="93578">
                  <a:srgbClr val="7030A0"/>
                </a:gs>
                <a:gs pos="64000">
                  <a:srgbClr val="FFCC66"/>
                </a:gs>
                <a:gs pos="55000">
                  <a:srgbClr val="FFFF00"/>
                </a:gs>
                <a:gs pos="44000">
                  <a:srgbClr val="FFCC66"/>
                </a:gs>
              </a:gsLst>
              <a:lin ang="7800000" scaled="0"/>
            </a:gradFill>
            <a:ln w="19050">
              <a:solidFill>
                <a:schemeClr val="bg1"/>
              </a:solidFill>
            </a:ln>
            <a:effectLst>
              <a:glow rad="1016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solidFill>
                    <a:schemeClr val="bg2">
                      <a:lumMod val="50000"/>
                    </a:schemeClr>
                  </a:solidFill>
                  <a:latin typeface="Lucida Fax" panose="02060602050505020204" pitchFamily="18" charset="0"/>
                </a:rPr>
                <a:t>Tapasztalatok</a:t>
              </a:r>
            </a:p>
          </p:txBody>
        </p:sp>
        <p:sp>
          <p:nvSpPr>
            <p:cNvPr id="16" name="Téglalap: lekerekített 4">
              <a:extLst>
                <a:ext uri="{FF2B5EF4-FFF2-40B4-BE49-F238E27FC236}">
                  <a16:creationId xmlns:a16="http://schemas.microsoft.com/office/drawing/2014/main" id="{1C9CC352-6EC8-AFE0-DF84-7A588B55C2FC}"/>
                </a:ext>
              </a:extLst>
            </p:cNvPr>
            <p:cNvSpPr/>
            <p:nvPr/>
          </p:nvSpPr>
          <p:spPr>
            <a:xfrm>
              <a:off x="9364133" y="5222874"/>
              <a:ext cx="2650067" cy="1464733"/>
            </a:xfrm>
            <a:prstGeom prst="roundRect">
              <a:avLst/>
            </a:prstGeom>
            <a:gradFill flip="none" rotWithShape="1">
              <a:gsLst>
                <a:gs pos="38528">
                  <a:schemeClr val="bg2">
                    <a:lumMod val="50000"/>
                  </a:schemeClr>
                </a:gs>
                <a:gs pos="63000">
                  <a:schemeClr val="bg2">
                    <a:lumMod val="50000"/>
                  </a:schemeClr>
                </a:gs>
                <a:gs pos="76000">
                  <a:schemeClr val="bg2">
                    <a:lumMod val="75000"/>
                  </a:schemeClr>
                </a:gs>
                <a:gs pos="25000">
                  <a:schemeClr val="bg2">
                    <a:lumMod val="75000"/>
                  </a:schemeClr>
                </a:gs>
                <a:gs pos="4000">
                  <a:schemeClr val="bg1"/>
                </a:gs>
                <a:gs pos="100000">
                  <a:schemeClr val="bg1"/>
                </a:gs>
              </a:gsLst>
              <a:lin ang="7800000" scaled="0"/>
              <a:tileRect/>
            </a:gradFill>
            <a:ln w="19050">
              <a:solidFill>
                <a:schemeClr val="bg1"/>
              </a:solidFill>
            </a:ln>
            <a:effectLst>
              <a:glow rad="1016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Lucida Fax" panose="02060602050505020204" pitchFamily="18" charset="0"/>
                </a:rPr>
                <a:t>Források</a:t>
              </a:r>
            </a:p>
          </p:txBody>
        </p:sp>
      </p:grpSp>
      <p:sp>
        <p:nvSpPr>
          <p:cNvPr id="2" name="!!feladat_megoszt">
            <a:extLst>
              <a:ext uri="{FF2B5EF4-FFF2-40B4-BE49-F238E27FC236}">
                <a16:creationId xmlns:a16="http://schemas.microsoft.com/office/drawing/2014/main" id="{B9AB2133-CD7C-CC7A-89C1-C45C9F089F64}"/>
              </a:ext>
            </a:extLst>
          </p:cNvPr>
          <p:cNvSpPr/>
          <p:nvPr/>
        </p:nvSpPr>
        <p:spPr>
          <a:xfrm>
            <a:off x="347132" y="5070474"/>
            <a:ext cx="2650067" cy="1464733"/>
          </a:xfrm>
          <a:prstGeom prst="roundRect">
            <a:avLst/>
          </a:prstGeom>
          <a:gradFill>
            <a:gsLst>
              <a:gs pos="90000">
                <a:srgbClr val="296075"/>
              </a:gs>
              <a:gs pos="8000">
                <a:srgbClr val="296075"/>
              </a:gs>
              <a:gs pos="41000">
                <a:srgbClr val="57C785"/>
              </a:gs>
              <a:gs pos="62000">
                <a:srgbClr val="57C785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Feladat Megosztás</a:t>
            </a:r>
          </a:p>
        </p:txBody>
      </p:sp>
      <p:sp>
        <p:nvSpPr>
          <p:cNvPr id="3" name="!!idobeosztás">
            <a:extLst>
              <a:ext uri="{FF2B5EF4-FFF2-40B4-BE49-F238E27FC236}">
                <a16:creationId xmlns:a16="http://schemas.microsoft.com/office/drawing/2014/main" id="{19AEAFD9-DA15-1C42-0D77-D39696861966}"/>
              </a:ext>
            </a:extLst>
          </p:cNvPr>
          <p:cNvSpPr/>
          <p:nvPr/>
        </p:nvSpPr>
        <p:spPr>
          <a:xfrm>
            <a:off x="3301999" y="5070475"/>
            <a:ext cx="2650067" cy="1464733"/>
          </a:xfrm>
          <a:prstGeom prst="roundRect">
            <a:avLst/>
          </a:prstGeom>
          <a:gradFill>
            <a:gsLst>
              <a:gs pos="4000">
                <a:srgbClr val="FF0000"/>
              </a:gs>
              <a:gs pos="57000">
                <a:schemeClr val="accent4"/>
              </a:gs>
              <a:gs pos="80396">
                <a:schemeClr val="accent4">
                  <a:lumMod val="40000"/>
                  <a:lumOff val="60000"/>
                </a:schemeClr>
              </a:gs>
              <a:gs pos="27000">
                <a:schemeClr val="accent4">
                  <a:lumMod val="40000"/>
                  <a:lumOff val="60000"/>
                </a:schemeClr>
              </a:gs>
              <a:gs pos="100000">
                <a:srgbClr val="FF0000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Időbeosztás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A3F51ED-4298-8E18-DA2A-50B100243BA1}"/>
              </a:ext>
            </a:extLst>
          </p:cNvPr>
          <p:cNvSpPr txBox="1"/>
          <p:nvPr/>
        </p:nvSpPr>
        <p:spPr>
          <a:xfrm>
            <a:off x="1865841" y="600075"/>
            <a:ext cx="8782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u="sng" dirty="0">
                <a:solidFill>
                  <a:srgbClr val="57C785"/>
                </a:solidFill>
                <a:latin typeface="Lucida Fax" panose="02060602050505020204" pitchFamily="18" charset="0"/>
              </a:rPr>
              <a:t>Tartalom: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036BB1-2F2E-77D7-3208-2917D2C3596F}"/>
              </a:ext>
            </a:extLst>
          </p:cNvPr>
          <p:cNvGrpSpPr/>
          <p:nvPr/>
        </p:nvGrpSpPr>
        <p:grpSpPr>
          <a:xfrm>
            <a:off x="348946" y="341346"/>
            <a:ext cx="11206239" cy="6193862"/>
            <a:chOff x="348946" y="341346"/>
            <a:chExt cx="11206239" cy="619386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D5EF7D-2CD3-8B0C-B782-82F6678F5BCE}"/>
                </a:ext>
              </a:extLst>
            </p:cNvPr>
            <p:cNvGrpSpPr/>
            <p:nvPr/>
          </p:nvGrpSpPr>
          <p:grpSpPr>
            <a:xfrm>
              <a:off x="348946" y="341346"/>
              <a:ext cx="11206239" cy="6193862"/>
              <a:chOff x="12473214" y="341346"/>
              <a:chExt cx="11206239" cy="6193862"/>
            </a:xfrm>
          </p:grpSpPr>
          <p:sp>
            <p:nvSpPr>
              <p:cNvPr id="8" name="!!feladat_megoszt">
                <a:extLst>
                  <a:ext uri="{FF2B5EF4-FFF2-40B4-BE49-F238E27FC236}">
                    <a16:creationId xmlns:a16="http://schemas.microsoft.com/office/drawing/2014/main" id="{6A623061-8195-56E1-67E4-778B98391E87}"/>
                  </a:ext>
                </a:extLst>
              </p:cNvPr>
              <p:cNvSpPr/>
              <p:nvPr/>
            </p:nvSpPr>
            <p:spPr>
              <a:xfrm>
                <a:off x="12473214" y="341346"/>
                <a:ext cx="11206239" cy="6193862"/>
              </a:xfrm>
              <a:prstGeom prst="roundRect">
                <a:avLst/>
              </a:prstGeom>
              <a:gradFill>
                <a:gsLst>
                  <a:gs pos="90000">
                    <a:srgbClr val="296075"/>
                  </a:gs>
                  <a:gs pos="8000">
                    <a:srgbClr val="296075"/>
                  </a:gs>
                  <a:gs pos="41000">
                    <a:srgbClr val="57C785"/>
                  </a:gs>
                  <a:gs pos="62000">
                    <a:srgbClr val="57C785"/>
                  </a:gs>
                </a:gsLst>
                <a:lin ang="2400000" scaled="0"/>
              </a:gradFill>
              <a:ln w="19050">
                <a:solidFill>
                  <a:schemeClr val="bg1"/>
                </a:solidFill>
              </a:ln>
              <a:effectLst>
                <a:glow rad="1016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>
                  <a:latin typeface="Lucida Fax" panose="02060602050505020204" pitchFamily="18" charset="0"/>
                </a:endParaRPr>
              </a:p>
            </p:txBody>
          </p:sp>
          <p:sp>
            <p:nvSpPr>
              <p:cNvPr id="9" name="Cím 1">
                <a:extLst>
                  <a:ext uri="{FF2B5EF4-FFF2-40B4-BE49-F238E27FC236}">
                    <a16:creationId xmlns:a16="http://schemas.microsoft.com/office/drawing/2014/main" id="{478564C2-C9A6-4C71-62CB-18A4B7CBF7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18533" y="1211886"/>
                <a:ext cx="10515600" cy="83621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hu-HU" dirty="0">
                    <a:solidFill>
                      <a:schemeClr val="bg1"/>
                    </a:solidFill>
                    <a:latin typeface="Lucida Fax" panose="02060602050505020204" pitchFamily="18" charset="0"/>
                  </a:rPr>
                  <a:t>Feladat Megosztás:</a:t>
                </a:r>
              </a:p>
            </p:txBody>
          </p:sp>
        </p:grpSp>
        <p:sp>
          <p:nvSpPr>
            <p:cNvPr id="4" name="Tartalom helye 2">
              <a:extLst>
                <a:ext uri="{FF2B5EF4-FFF2-40B4-BE49-F238E27FC236}">
                  <a16:creationId xmlns:a16="http://schemas.microsoft.com/office/drawing/2014/main" id="{5F2D2841-0FBB-B888-E90C-BB8F19A34069}"/>
                </a:ext>
              </a:extLst>
            </p:cNvPr>
            <p:cNvSpPr txBox="1">
              <a:spLocks/>
            </p:cNvSpPr>
            <p:nvPr/>
          </p:nvSpPr>
          <p:spPr>
            <a:xfrm>
              <a:off x="2413000" y="2886848"/>
              <a:ext cx="3683000" cy="330436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hu-HU" dirty="0">
                  <a:solidFill>
                    <a:schemeClr val="bg1"/>
                  </a:solidFill>
                  <a:latin typeface="Lucida Fax" panose="02060602050505020204" pitchFamily="18" charset="0"/>
                </a:rPr>
                <a:t>Tihamér:</a:t>
              </a:r>
            </a:p>
            <a:p>
              <a:pPr>
                <a:buClr>
                  <a:schemeClr val="bg1"/>
                </a:buClr>
                <a:buFont typeface="Lucida Fax" panose="02060602050505020204" pitchFamily="18" charset="0"/>
                <a:buChar char="»"/>
              </a:pPr>
              <a:r>
                <a:rPr lang="hu-HU" dirty="0">
                  <a:solidFill>
                    <a:schemeClr val="bg1"/>
                  </a:solidFill>
                  <a:latin typeface="Lucida Fax" panose="02060602050505020204" pitchFamily="18" charset="0"/>
                </a:rPr>
                <a:t>Html</a:t>
              </a:r>
            </a:p>
            <a:p>
              <a:pPr>
                <a:buClr>
                  <a:schemeClr val="bg1"/>
                </a:buClr>
                <a:buFont typeface="Lucida Fax" panose="02060602050505020204" pitchFamily="18" charset="0"/>
                <a:buChar char="»"/>
              </a:pPr>
              <a:r>
                <a:rPr lang="hu-HU" dirty="0">
                  <a:solidFill>
                    <a:schemeClr val="bg1"/>
                  </a:solidFill>
                  <a:latin typeface="Lucida Fax" panose="02060602050505020204" pitchFamily="18" charset="0"/>
                </a:rPr>
                <a:t>Github</a:t>
              </a:r>
            </a:p>
            <a:p>
              <a:pPr marL="0" indent="0">
                <a:buClr>
                  <a:schemeClr val="bg1"/>
                </a:buClr>
                <a:buFont typeface="Arial" panose="020B0604020202020204" pitchFamily="34" charset="0"/>
                <a:buNone/>
              </a:pPr>
              <a:endParaRPr lang="hu-HU" dirty="0">
                <a:solidFill>
                  <a:schemeClr val="bg1"/>
                </a:solidFill>
                <a:latin typeface="Lucida Fax" panose="02060602050505020204" pitchFamily="18" charset="0"/>
              </a:endParaRPr>
            </a:p>
          </p:txBody>
        </p:sp>
        <p:sp>
          <p:nvSpPr>
            <p:cNvPr id="5" name="Tartalom helye 3">
              <a:extLst>
                <a:ext uri="{FF2B5EF4-FFF2-40B4-BE49-F238E27FC236}">
                  <a16:creationId xmlns:a16="http://schemas.microsoft.com/office/drawing/2014/main" id="{D7951B3B-E57F-CF9E-86BF-11B5A6FB5A2F}"/>
                </a:ext>
              </a:extLst>
            </p:cNvPr>
            <p:cNvSpPr txBox="1">
              <a:spLocks/>
            </p:cNvSpPr>
            <p:nvPr/>
          </p:nvSpPr>
          <p:spPr>
            <a:xfrm>
              <a:off x="6334664" y="2886848"/>
              <a:ext cx="3683000" cy="330436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hu-HU">
                  <a:solidFill>
                    <a:schemeClr val="bg1"/>
                  </a:solidFill>
                  <a:latin typeface="Lucida Fax" panose="02060602050505020204" pitchFamily="18" charset="0"/>
                </a:rPr>
                <a:t>Levente:</a:t>
              </a:r>
            </a:p>
            <a:p>
              <a:pPr>
                <a:buClr>
                  <a:schemeClr val="bg1"/>
                </a:buClr>
                <a:buFont typeface="Lucida Fax" panose="02060602050505020204" pitchFamily="18" charset="0"/>
                <a:buChar char="»"/>
              </a:pPr>
              <a:r>
                <a:rPr lang="hu-HU">
                  <a:solidFill>
                    <a:schemeClr val="bg1"/>
                  </a:solidFill>
                  <a:latin typeface="Lucida Fax" panose="02060602050505020204" pitchFamily="18" charset="0"/>
                </a:rPr>
                <a:t>Java</a:t>
              </a:r>
            </a:p>
            <a:p>
              <a:pPr>
                <a:buClr>
                  <a:schemeClr val="bg1"/>
                </a:buClr>
                <a:buFont typeface="Lucida Fax" panose="02060602050505020204" pitchFamily="18" charset="0"/>
                <a:buChar char="»"/>
              </a:pPr>
              <a:r>
                <a:rPr lang="hu-HU">
                  <a:solidFill>
                    <a:schemeClr val="bg1"/>
                  </a:solidFill>
                  <a:latin typeface="Lucida Fax" panose="02060602050505020204" pitchFamily="18" charset="0"/>
                </a:rPr>
                <a:t>PPT</a:t>
              </a:r>
            </a:p>
            <a:p>
              <a:pPr marL="0" indent="0">
                <a:buClr>
                  <a:schemeClr val="bg1"/>
                </a:buClr>
                <a:buFont typeface="Arial" panose="020B0604020202020204" pitchFamily="34" charset="0"/>
                <a:buNone/>
              </a:pPr>
              <a:endParaRPr lang="hu-HU" dirty="0">
                <a:solidFill>
                  <a:schemeClr val="bg1"/>
                </a:solidFill>
                <a:latin typeface="Lucida Fax" panose="02060602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940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56B8C-2D8D-CA19-F524-C415EB7E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idobeosztás">
            <a:extLst>
              <a:ext uri="{FF2B5EF4-FFF2-40B4-BE49-F238E27FC236}">
                <a16:creationId xmlns:a16="http://schemas.microsoft.com/office/drawing/2014/main" id="{A4ECB620-CE44-6B0D-3FDB-6AAF485DDE3E}"/>
              </a:ext>
            </a:extLst>
          </p:cNvPr>
          <p:cNvSpPr/>
          <p:nvPr/>
        </p:nvSpPr>
        <p:spPr>
          <a:xfrm>
            <a:off x="409274" y="341346"/>
            <a:ext cx="11172672" cy="6175308"/>
          </a:xfrm>
          <a:prstGeom prst="roundRect">
            <a:avLst/>
          </a:prstGeom>
          <a:gradFill>
            <a:gsLst>
              <a:gs pos="4000">
                <a:srgbClr val="FF0000"/>
              </a:gs>
              <a:gs pos="57000">
                <a:schemeClr val="accent4"/>
              </a:gs>
              <a:gs pos="80396">
                <a:schemeClr val="accent4">
                  <a:lumMod val="40000"/>
                  <a:lumOff val="60000"/>
                </a:schemeClr>
              </a:gs>
              <a:gs pos="27000">
                <a:schemeClr val="accent4">
                  <a:lumMod val="40000"/>
                  <a:lumOff val="60000"/>
                </a:schemeClr>
              </a:gs>
              <a:gs pos="100000">
                <a:srgbClr val="FF0000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bg2">
                  <a:lumMod val="50000"/>
                </a:schemeClr>
              </a:solidFill>
              <a:latin typeface="Lucida Fax" panose="020606020505050202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50EDFD8-A237-7437-71F4-F429EA13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888" y="579436"/>
            <a:ext cx="3876221" cy="1325563"/>
          </a:xfrm>
        </p:spPr>
        <p:txBody>
          <a:bodyPr/>
          <a:lstStyle/>
          <a:p>
            <a:r>
              <a:rPr lang="hu-HU" dirty="0">
                <a:latin typeface="Lucida Fax" panose="02060602050505020204" pitchFamily="18" charset="0"/>
              </a:rPr>
              <a:t>Időbeosztás: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648E858-F53A-902A-FCE8-961CD531F9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135499"/>
              </p:ext>
            </p:extLst>
          </p:nvPr>
        </p:nvGraphicFramePr>
        <p:xfrm>
          <a:off x="2600325" y="1904999"/>
          <a:ext cx="6770687" cy="4366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B27923A-F09A-FCB7-2967-BE2E7BF4832D}"/>
              </a:ext>
            </a:extLst>
          </p:cNvPr>
          <p:cNvSpPr txBox="1"/>
          <p:nvPr/>
        </p:nvSpPr>
        <p:spPr>
          <a:xfrm rot="16200000">
            <a:off x="2184405" y="3801102"/>
            <a:ext cx="1273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Dolgozott órák</a:t>
            </a:r>
          </a:p>
        </p:txBody>
      </p:sp>
    </p:spTree>
    <p:extLst>
      <p:ext uri="{BB962C8B-B14F-4D97-AF65-F5344CB8AC3E}">
        <p14:creationId xmlns:p14="http://schemas.microsoft.com/office/powerpoint/2010/main" val="619596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7" grpId="0">
        <p:bldAsOne/>
      </p:bldGraphic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5F636-7C50-3CB1-A19F-85C67DC0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tapasztalatok">
            <a:extLst>
              <a:ext uri="{FF2B5EF4-FFF2-40B4-BE49-F238E27FC236}">
                <a16:creationId xmlns:a16="http://schemas.microsoft.com/office/drawing/2014/main" id="{E1EF357D-5F3B-7F63-9BC4-FC1A5C371B2B}"/>
              </a:ext>
            </a:extLst>
          </p:cNvPr>
          <p:cNvSpPr/>
          <p:nvPr/>
        </p:nvSpPr>
        <p:spPr>
          <a:xfrm>
            <a:off x="6239934" y="5074708"/>
            <a:ext cx="2650067" cy="1464733"/>
          </a:xfrm>
          <a:prstGeom prst="roundRect">
            <a:avLst/>
          </a:prstGeom>
          <a:gradFill>
            <a:gsLst>
              <a:gs pos="4000">
                <a:srgbClr val="7030A0"/>
              </a:gs>
              <a:gs pos="93578">
                <a:srgbClr val="7030A0"/>
              </a:gs>
              <a:gs pos="64000">
                <a:srgbClr val="FFCC66"/>
              </a:gs>
              <a:gs pos="55000">
                <a:srgbClr val="FFFF00"/>
              </a:gs>
              <a:gs pos="44000">
                <a:srgbClr val="FFCC66"/>
              </a:gs>
            </a:gsLst>
            <a:lin ang="78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Tapasztalatok</a:t>
            </a:r>
          </a:p>
        </p:txBody>
      </p:sp>
      <p:sp>
        <p:nvSpPr>
          <p:cNvPr id="8" name="Téglalap: lekerekített 4">
            <a:extLst>
              <a:ext uri="{FF2B5EF4-FFF2-40B4-BE49-F238E27FC236}">
                <a16:creationId xmlns:a16="http://schemas.microsoft.com/office/drawing/2014/main" id="{F0E82AB9-2F45-73BF-D849-8CE682ABBEB2}"/>
              </a:ext>
            </a:extLst>
          </p:cNvPr>
          <p:cNvSpPr/>
          <p:nvPr/>
        </p:nvSpPr>
        <p:spPr>
          <a:xfrm>
            <a:off x="9194801" y="5070474"/>
            <a:ext cx="2650067" cy="1464733"/>
          </a:xfrm>
          <a:prstGeom prst="roundRect">
            <a:avLst/>
          </a:prstGeom>
          <a:gradFill flip="none" rotWithShape="1">
            <a:gsLst>
              <a:gs pos="38528">
                <a:schemeClr val="bg2">
                  <a:lumMod val="50000"/>
                </a:schemeClr>
              </a:gs>
              <a:gs pos="63000">
                <a:schemeClr val="bg2">
                  <a:lumMod val="50000"/>
                </a:schemeClr>
              </a:gs>
              <a:gs pos="76000">
                <a:schemeClr val="bg2">
                  <a:lumMod val="75000"/>
                </a:schemeClr>
              </a:gs>
              <a:gs pos="25000">
                <a:schemeClr val="bg2">
                  <a:lumMod val="75000"/>
                </a:schemeClr>
              </a:gs>
              <a:gs pos="4000">
                <a:schemeClr val="bg1"/>
              </a:gs>
              <a:gs pos="100000">
                <a:schemeClr val="bg1"/>
              </a:gs>
            </a:gsLst>
            <a:lin ang="7800000" scaled="0"/>
            <a:tileRect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Források</a:t>
            </a:r>
          </a:p>
        </p:txBody>
      </p:sp>
      <p:sp>
        <p:nvSpPr>
          <p:cNvPr id="2" name="!!feladat_megoszt">
            <a:extLst>
              <a:ext uri="{FF2B5EF4-FFF2-40B4-BE49-F238E27FC236}">
                <a16:creationId xmlns:a16="http://schemas.microsoft.com/office/drawing/2014/main" id="{B9C7F578-9DC5-5D93-37C4-56944EEE8A80}"/>
              </a:ext>
            </a:extLst>
          </p:cNvPr>
          <p:cNvSpPr/>
          <p:nvPr/>
        </p:nvSpPr>
        <p:spPr>
          <a:xfrm>
            <a:off x="347132" y="5070474"/>
            <a:ext cx="2650067" cy="1464733"/>
          </a:xfrm>
          <a:prstGeom prst="roundRect">
            <a:avLst/>
          </a:prstGeom>
          <a:gradFill>
            <a:gsLst>
              <a:gs pos="90000">
                <a:srgbClr val="296075"/>
              </a:gs>
              <a:gs pos="8000">
                <a:srgbClr val="296075"/>
              </a:gs>
              <a:gs pos="41000">
                <a:srgbClr val="57C785"/>
              </a:gs>
              <a:gs pos="62000">
                <a:srgbClr val="57C785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Feladat Megosztás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AA2C61DC-220D-804C-9D2D-075C422B99D7}"/>
              </a:ext>
            </a:extLst>
          </p:cNvPr>
          <p:cNvSpPr/>
          <p:nvPr/>
        </p:nvSpPr>
        <p:spPr>
          <a:xfrm>
            <a:off x="3301999" y="5070475"/>
            <a:ext cx="2650067" cy="1464733"/>
          </a:xfrm>
          <a:prstGeom prst="roundRect">
            <a:avLst/>
          </a:prstGeom>
          <a:gradFill>
            <a:gsLst>
              <a:gs pos="4000">
                <a:srgbClr val="FF0000"/>
              </a:gs>
              <a:gs pos="57000">
                <a:schemeClr val="accent4"/>
              </a:gs>
              <a:gs pos="80396">
                <a:schemeClr val="accent4">
                  <a:lumMod val="40000"/>
                  <a:lumOff val="60000"/>
                </a:schemeClr>
              </a:gs>
              <a:gs pos="27000">
                <a:schemeClr val="accent4">
                  <a:lumMod val="40000"/>
                  <a:lumOff val="60000"/>
                </a:schemeClr>
              </a:gs>
              <a:gs pos="100000">
                <a:srgbClr val="FF0000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Időbeosztás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752A275-7D22-3328-B825-B817694C04CC}"/>
              </a:ext>
            </a:extLst>
          </p:cNvPr>
          <p:cNvSpPr txBox="1"/>
          <p:nvPr/>
        </p:nvSpPr>
        <p:spPr>
          <a:xfrm>
            <a:off x="1865841" y="600075"/>
            <a:ext cx="8782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u="sng" dirty="0">
                <a:solidFill>
                  <a:srgbClr val="57C785"/>
                </a:solidFill>
                <a:latin typeface="Lucida Fax" panose="02060602050505020204" pitchFamily="18" charset="0"/>
              </a:rPr>
              <a:t>Tartalom:</a:t>
            </a:r>
          </a:p>
        </p:txBody>
      </p:sp>
    </p:spTree>
    <p:extLst>
      <p:ext uri="{BB962C8B-B14F-4D97-AF65-F5344CB8AC3E}">
        <p14:creationId xmlns:p14="http://schemas.microsoft.com/office/powerpoint/2010/main" val="2678678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1000">
        <p15:prstTrans prst="fracture"/>
      </p:transition>
    </mc:Choice>
    <mc:Fallback xmlns=""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32FD4-5F24-46FC-C460-B428C3EA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tapasztalatok">
            <a:extLst>
              <a:ext uri="{FF2B5EF4-FFF2-40B4-BE49-F238E27FC236}">
                <a16:creationId xmlns:a16="http://schemas.microsoft.com/office/drawing/2014/main" id="{1DD4DB66-E2FD-1E66-FAED-FC0812D6FCB7}"/>
              </a:ext>
            </a:extLst>
          </p:cNvPr>
          <p:cNvSpPr/>
          <p:nvPr/>
        </p:nvSpPr>
        <p:spPr>
          <a:xfrm>
            <a:off x="347132" y="357625"/>
            <a:ext cx="11206240" cy="6193862"/>
          </a:xfrm>
          <a:prstGeom prst="roundRect">
            <a:avLst/>
          </a:prstGeom>
          <a:gradFill>
            <a:gsLst>
              <a:gs pos="4000">
                <a:srgbClr val="7030A0"/>
              </a:gs>
              <a:gs pos="93578">
                <a:srgbClr val="7030A0"/>
              </a:gs>
              <a:gs pos="64000">
                <a:srgbClr val="FFCC66"/>
              </a:gs>
              <a:gs pos="55000">
                <a:srgbClr val="FFFF00"/>
              </a:gs>
              <a:gs pos="44000">
                <a:srgbClr val="FFCC66"/>
              </a:gs>
            </a:gsLst>
            <a:lin ang="78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bg2">
                  <a:lumMod val="50000"/>
                </a:schemeClr>
              </a:solidFill>
              <a:latin typeface="Lucida Fax" panose="020606020505050202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163D02-2A7B-66E9-D658-BFFBEA22D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9" y="951316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Tapasztalatok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30FED37-EE47-56B0-4668-DC5969573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452" y="2658221"/>
            <a:ext cx="5181600" cy="3248463"/>
          </a:xfrm>
        </p:spPr>
        <p:txBody>
          <a:bodyPr/>
          <a:lstStyle/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Kollaboráció</a:t>
            </a: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Csapattag váltás</a:t>
            </a: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Kommunikáció</a:t>
            </a: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Problémamegoldás</a:t>
            </a: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Webfejlesztés</a:t>
            </a:r>
          </a:p>
        </p:txBody>
      </p:sp>
    </p:spTree>
    <p:extLst>
      <p:ext uri="{BB962C8B-B14F-4D97-AF65-F5344CB8AC3E}">
        <p14:creationId xmlns:p14="http://schemas.microsoft.com/office/powerpoint/2010/main" val="139308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A7D2C-62E1-68A2-E9F7-7552C353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tapasztalatok">
            <a:extLst>
              <a:ext uri="{FF2B5EF4-FFF2-40B4-BE49-F238E27FC236}">
                <a16:creationId xmlns:a16="http://schemas.microsoft.com/office/drawing/2014/main" id="{3F45801B-AD44-D3DC-9A4B-6F4C3D8FDE42}"/>
              </a:ext>
            </a:extLst>
          </p:cNvPr>
          <p:cNvSpPr/>
          <p:nvPr/>
        </p:nvSpPr>
        <p:spPr>
          <a:xfrm>
            <a:off x="6239934" y="5074708"/>
            <a:ext cx="2650067" cy="1464733"/>
          </a:xfrm>
          <a:prstGeom prst="roundRect">
            <a:avLst/>
          </a:prstGeom>
          <a:gradFill>
            <a:gsLst>
              <a:gs pos="4000">
                <a:srgbClr val="7030A0"/>
              </a:gs>
              <a:gs pos="93578">
                <a:srgbClr val="7030A0"/>
              </a:gs>
              <a:gs pos="64000">
                <a:srgbClr val="FFCC66"/>
              </a:gs>
              <a:gs pos="55000">
                <a:srgbClr val="FFFF00"/>
              </a:gs>
              <a:gs pos="44000">
                <a:srgbClr val="FFCC66"/>
              </a:gs>
            </a:gsLst>
            <a:lin ang="78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Tapasztalatok</a:t>
            </a:r>
          </a:p>
        </p:txBody>
      </p:sp>
      <p:sp>
        <p:nvSpPr>
          <p:cNvPr id="8" name="!!forras">
            <a:extLst>
              <a:ext uri="{FF2B5EF4-FFF2-40B4-BE49-F238E27FC236}">
                <a16:creationId xmlns:a16="http://schemas.microsoft.com/office/drawing/2014/main" id="{9C163F61-388A-A99B-9A56-6787C0C26569}"/>
              </a:ext>
            </a:extLst>
          </p:cNvPr>
          <p:cNvSpPr/>
          <p:nvPr/>
        </p:nvSpPr>
        <p:spPr>
          <a:xfrm>
            <a:off x="9194801" y="5070474"/>
            <a:ext cx="2650067" cy="1464733"/>
          </a:xfrm>
          <a:prstGeom prst="roundRect">
            <a:avLst/>
          </a:prstGeom>
          <a:gradFill flip="none" rotWithShape="1">
            <a:gsLst>
              <a:gs pos="38528">
                <a:schemeClr val="bg2">
                  <a:lumMod val="50000"/>
                </a:schemeClr>
              </a:gs>
              <a:gs pos="63000">
                <a:schemeClr val="bg2">
                  <a:lumMod val="50000"/>
                </a:schemeClr>
              </a:gs>
              <a:gs pos="76000">
                <a:schemeClr val="bg2">
                  <a:lumMod val="75000"/>
                </a:schemeClr>
              </a:gs>
              <a:gs pos="25000">
                <a:schemeClr val="bg2">
                  <a:lumMod val="75000"/>
                </a:schemeClr>
              </a:gs>
              <a:gs pos="4000">
                <a:schemeClr val="bg1"/>
              </a:gs>
              <a:gs pos="100000">
                <a:schemeClr val="bg1"/>
              </a:gs>
            </a:gsLst>
            <a:lin ang="7800000" scaled="0"/>
            <a:tileRect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Források</a:t>
            </a:r>
          </a:p>
        </p:txBody>
      </p:sp>
      <p:sp>
        <p:nvSpPr>
          <p:cNvPr id="2" name="!!feladat_megoszt">
            <a:extLst>
              <a:ext uri="{FF2B5EF4-FFF2-40B4-BE49-F238E27FC236}">
                <a16:creationId xmlns:a16="http://schemas.microsoft.com/office/drawing/2014/main" id="{1FA39D70-53A4-7CF6-0FB9-C9A4120D09DE}"/>
              </a:ext>
            </a:extLst>
          </p:cNvPr>
          <p:cNvSpPr/>
          <p:nvPr/>
        </p:nvSpPr>
        <p:spPr>
          <a:xfrm>
            <a:off x="347132" y="5070474"/>
            <a:ext cx="2650067" cy="1464733"/>
          </a:xfrm>
          <a:prstGeom prst="roundRect">
            <a:avLst/>
          </a:prstGeom>
          <a:gradFill>
            <a:gsLst>
              <a:gs pos="90000">
                <a:srgbClr val="296075"/>
              </a:gs>
              <a:gs pos="8000">
                <a:srgbClr val="296075"/>
              </a:gs>
              <a:gs pos="41000">
                <a:srgbClr val="57C785"/>
              </a:gs>
              <a:gs pos="62000">
                <a:srgbClr val="57C785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latin typeface="Lucida Fax" panose="02060602050505020204" pitchFamily="18" charset="0"/>
              </a:rPr>
              <a:t>Feladat Megosztás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F0E9E05B-5B8A-1810-DA32-39D18BF30C97}"/>
              </a:ext>
            </a:extLst>
          </p:cNvPr>
          <p:cNvSpPr/>
          <p:nvPr/>
        </p:nvSpPr>
        <p:spPr>
          <a:xfrm>
            <a:off x="3301999" y="5070475"/>
            <a:ext cx="2650067" cy="1464733"/>
          </a:xfrm>
          <a:prstGeom prst="roundRect">
            <a:avLst/>
          </a:prstGeom>
          <a:gradFill>
            <a:gsLst>
              <a:gs pos="4000">
                <a:srgbClr val="FF0000"/>
              </a:gs>
              <a:gs pos="57000">
                <a:schemeClr val="accent4"/>
              </a:gs>
              <a:gs pos="80396">
                <a:schemeClr val="accent4">
                  <a:lumMod val="40000"/>
                  <a:lumOff val="60000"/>
                </a:schemeClr>
              </a:gs>
              <a:gs pos="27000">
                <a:schemeClr val="accent4">
                  <a:lumMod val="40000"/>
                  <a:lumOff val="60000"/>
                </a:schemeClr>
              </a:gs>
              <a:gs pos="100000">
                <a:srgbClr val="FF0000"/>
              </a:gs>
            </a:gsLst>
            <a:lin ang="2400000" scaled="0"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2">
                    <a:lumMod val="50000"/>
                  </a:schemeClr>
                </a:solidFill>
                <a:latin typeface="Lucida Fax" panose="02060602050505020204" pitchFamily="18" charset="0"/>
              </a:rPr>
              <a:t>Időbeosztás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0F397C3-986C-90BD-A4F0-1455DB189D10}"/>
              </a:ext>
            </a:extLst>
          </p:cNvPr>
          <p:cNvSpPr txBox="1"/>
          <p:nvPr/>
        </p:nvSpPr>
        <p:spPr>
          <a:xfrm>
            <a:off x="1865841" y="600075"/>
            <a:ext cx="8782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u="sng" dirty="0">
                <a:solidFill>
                  <a:srgbClr val="57C785"/>
                </a:solidFill>
                <a:latin typeface="Lucida Fax" panose="02060602050505020204" pitchFamily="18" charset="0"/>
              </a:rPr>
              <a:t>Tartalom:</a:t>
            </a:r>
          </a:p>
        </p:txBody>
      </p:sp>
    </p:spTree>
    <p:extLst>
      <p:ext uri="{BB962C8B-B14F-4D97-AF65-F5344CB8AC3E}">
        <p14:creationId xmlns:p14="http://schemas.microsoft.com/office/powerpoint/2010/main" val="385357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1000">
        <p14:ripple/>
      </p:transition>
    </mc:Choice>
    <mc:Fallback xmlns="">
      <p:transition spd="slow" advClick="0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1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39F1F-1B83-A2FF-4E9A-C95C90E5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ras">
            <a:extLst>
              <a:ext uri="{FF2B5EF4-FFF2-40B4-BE49-F238E27FC236}">
                <a16:creationId xmlns:a16="http://schemas.microsoft.com/office/drawing/2014/main" id="{C23F7EE9-BB9C-11C6-EE10-773E85FBDEF5}"/>
              </a:ext>
            </a:extLst>
          </p:cNvPr>
          <p:cNvSpPr/>
          <p:nvPr/>
        </p:nvSpPr>
        <p:spPr>
          <a:xfrm>
            <a:off x="347131" y="357626"/>
            <a:ext cx="11206239" cy="6193862"/>
          </a:xfrm>
          <a:prstGeom prst="roundRect">
            <a:avLst/>
          </a:prstGeom>
          <a:gradFill flip="none" rotWithShape="1">
            <a:gsLst>
              <a:gs pos="38528">
                <a:schemeClr val="bg2">
                  <a:lumMod val="50000"/>
                </a:schemeClr>
              </a:gs>
              <a:gs pos="63000">
                <a:schemeClr val="bg2">
                  <a:lumMod val="50000"/>
                </a:schemeClr>
              </a:gs>
              <a:gs pos="76000">
                <a:schemeClr val="bg2">
                  <a:lumMod val="75000"/>
                </a:schemeClr>
              </a:gs>
              <a:gs pos="25000">
                <a:schemeClr val="bg2">
                  <a:lumMod val="75000"/>
                </a:schemeClr>
              </a:gs>
              <a:gs pos="4000">
                <a:schemeClr val="bg1"/>
              </a:gs>
              <a:gs pos="100000">
                <a:schemeClr val="bg1"/>
              </a:gs>
            </a:gsLst>
            <a:lin ang="7800000" scaled="0"/>
            <a:tileRect/>
          </a:gradFill>
          <a:ln w="19050">
            <a:solidFill>
              <a:schemeClr val="bg1"/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latin typeface="Lucida Fax" panose="020606020505050202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FF71BD9-23F8-CAA0-DF64-7AF26C2C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9" y="951316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Források 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498B46-820D-9059-6FB0-485CDB9AE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452" y="2276879"/>
            <a:ext cx="5181600" cy="3629805"/>
          </a:xfrm>
        </p:spPr>
        <p:txBody>
          <a:bodyPr>
            <a:normAutofit fontScale="92500" lnSpcReduction="10000"/>
          </a:bodyPr>
          <a:lstStyle/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Tamás bárát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A projektben résztvevők brain.sql adatbázisa</a:t>
            </a:r>
          </a:p>
          <a:p>
            <a:pPr marL="0" indent="0">
              <a:buNone/>
            </a:pPr>
            <a:endParaRPr lang="hu-HU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W3schools</a:t>
            </a:r>
          </a:p>
          <a:p>
            <a:pPr>
              <a:buFont typeface="Lucida Fax" panose="02060602050505020204" pitchFamily="18" charset="0"/>
              <a:buChar char="»"/>
            </a:pPr>
            <a:endParaRPr lang="hu-HU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pPr>
              <a:buFont typeface="Lucida Fax" panose="02060602050505020204" pitchFamily="18" charset="0"/>
              <a:buChar char="»"/>
            </a:pPr>
            <a:r>
              <a:rPr lang="hu-HU" dirty="0">
                <a:solidFill>
                  <a:schemeClr val="bg1"/>
                </a:solidFill>
                <a:latin typeface="Lucida Fax" panose="02060602050505020204" pitchFamily="18" charset="0"/>
              </a:rPr>
              <a:t>Youtube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5724E-87CB-5A42-28B5-334D5C32CF73}"/>
              </a:ext>
            </a:extLst>
          </p:cNvPr>
          <p:cNvSpPr txBox="1"/>
          <p:nvPr/>
        </p:nvSpPr>
        <p:spPr>
          <a:xfrm>
            <a:off x="4383729" y="1357995"/>
            <a:ext cx="406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tx1">
                    <a:alpha val="0"/>
                  </a:schemeClr>
                </a:solidFill>
              </a:rPr>
              <a:t>Figma map icon: Viktor ötlete volt</a:t>
            </a:r>
          </a:p>
        </p:txBody>
      </p:sp>
    </p:spTree>
    <p:extLst>
      <p:ext uri="{BB962C8B-B14F-4D97-AF65-F5344CB8AC3E}">
        <p14:creationId xmlns:p14="http://schemas.microsoft.com/office/powerpoint/2010/main" val="3495907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296075"/>
            </a:gs>
            <a:gs pos="80000">
              <a:srgbClr val="296075"/>
            </a:gs>
            <a:gs pos="64190">
              <a:srgbClr val="27383D"/>
            </a:gs>
            <a:gs pos="46000">
              <a:srgbClr val="27383D"/>
            </a:gs>
            <a:gs pos="4000">
              <a:srgbClr val="57C785"/>
            </a:gs>
            <a:gs pos="100000">
              <a:srgbClr val="57C785"/>
            </a:gs>
          </a:gsLst>
          <a:lin ang="7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260A2-C5F3-2449-DF28-318F2BAA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EB9096-79CE-7CC0-E18C-03D511AFD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9199"/>
            <a:ext cx="9144000" cy="1020763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hu-HU" dirty="0">
                <a:solidFill>
                  <a:srgbClr val="57C785"/>
                </a:solidFill>
                <a:latin typeface="Lucida Fax" panose="02060602050505020204" pitchFamily="18" charset="0"/>
              </a:rPr>
              <a:t>Köszönjük a figyelmet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1799A99-412B-7B59-1F7D-5D5EBC113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rgbClr val="296075"/>
                </a:solidFill>
              </a:rPr>
              <a:t>Készítette: Tóth Tihamér &amp; Szilágyi Levente</a:t>
            </a:r>
          </a:p>
        </p:txBody>
      </p:sp>
    </p:spTree>
    <p:extLst>
      <p:ext uri="{BB962C8B-B14F-4D97-AF65-F5344CB8AC3E}">
        <p14:creationId xmlns:p14="http://schemas.microsoft.com/office/powerpoint/2010/main" val="1133813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103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Lucida Fax</vt:lpstr>
      <vt:lpstr>Office-téma</vt:lpstr>
      <vt:lpstr>Kiszállítás és Ételrendező Rendszer</vt:lpstr>
      <vt:lpstr>PowerPoint Presentation</vt:lpstr>
      <vt:lpstr>Feladat Megosztás:</vt:lpstr>
      <vt:lpstr>PowerPoint Presentation</vt:lpstr>
      <vt:lpstr>Időbeosztás:</vt:lpstr>
      <vt:lpstr>PowerPoint Presentation</vt:lpstr>
      <vt:lpstr>Tapasztalatok :</vt:lpstr>
      <vt:lpstr>PowerPoint Presentation</vt:lpstr>
      <vt:lpstr>Források :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Kiszállítás és Ételrendező Rendszer</dc:title>
  <dc:creator>Szilágyi Levente</dc:creator>
  <cp:lastModifiedBy>Levente Szilágyi</cp:lastModifiedBy>
  <cp:revision>8</cp:revision>
  <dcterms:created xsi:type="dcterms:W3CDTF">2026-10-08T06:14:56Z</dcterms:created>
  <dcterms:modified xsi:type="dcterms:W3CDTF">2026-10-12T15:04:38Z</dcterms:modified>
</cp:coreProperties>
</file>